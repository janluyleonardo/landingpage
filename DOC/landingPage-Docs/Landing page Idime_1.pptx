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9296400" cy="70104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CA9"/>
    <a:srgbClr val="B0E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Pulse para desplazar la página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CO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CO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s-CO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s-CO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84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B8DFDCC-AE88-487B-94B2-08610F3A1D00}" type="slidenum">
              <a:rPr lang="es-CO" sz="1400" b="0" strike="noStrike" spc="-1">
                <a:latin typeface="Times New Roman"/>
              </a:rPr>
              <a:t>‹Nº›</a:t>
            </a:fld>
            <a:endParaRPr lang="es-CO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78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2113" cy="2363788"/>
          </a:xfrm>
          <a:prstGeom prst="rect">
            <a:avLst/>
          </a:prstGeom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930600" y="3373560"/>
            <a:ext cx="7434000" cy="2759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CO" sz="2000" b="0" strike="noStrike" spc="-1">
              <a:latin typeface="Arial"/>
            </a:endParaRPr>
          </a:p>
        </p:txBody>
      </p:sp>
      <p:sp>
        <p:nvSpPr>
          <p:cNvPr id="222" name="CustomShape 3"/>
          <p:cNvSpPr/>
          <p:nvPr/>
        </p:nvSpPr>
        <p:spPr>
          <a:xfrm>
            <a:off x="5265000" y="6658560"/>
            <a:ext cx="4027680" cy="35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294AEF40-E308-4D33-AF42-9ED773729487}" type="slidenum">
              <a:rPr lang="es-CO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2</a:t>
            </a:fld>
            <a:endParaRPr lang="es-CO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996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2113" cy="2363788"/>
          </a:xfrm>
          <a:prstGeom prst="rect">
            <a:avLst/>
          </a:prstGeom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930600" y="3373560"/>
            <a:ext cx="7434000" cy="2759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CO" sz="2000" b="0" strike="noStrike" spc="-1">
              <a:latin typeface="Arial"/>
            </a:endParaRPr>
          </a:p>
        </p:txBody>
      </p:sp>
      <p:sp>
        <p:nvSpPr>
          <p:cNvPr id="225" name="CustomShape 3"/>
          <p:cNvSpPr/>
          <p:nvPr/>
        </p:nvSpPr>
        <p:spPr>
          <a:xfrm>
            <a:off x="5265000" y="6658560"/>
            <a:ext cx="4027680" cy="35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BF45B843-CCFE-403B-B3F5-C4B37DE5FEBC}" type="slidenum">
              <a:rPr lang="es-CO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3</a:t>
            </a:fld>
            <a:endParaRPr lang="es-CO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47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930600" y="3373560"/>
            <a:ext cx="7434000" cy="2759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CO" sz="2000" b="0" strike="noStrike" spc="-1">
              <a:latin typeface="Arial"/>
            </a:endParaRPr>
          </a:p>
        </p:txBody>
      </p:sp>
      <p:sp>
        <p:nvSpPr>
          <p:cNvPr id="228" name="CustomShape 3"/>
          <p:cNvSpPr/>
          <p:nvPr/>
        </p:nvSpPr>
        <p:spPr>
          <a:xfrm>
            <a:off x="5265000" y="6658560"/>
            <a:ext cx="4027680" cy="35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B65FA9FD-44F0-4704-AB39-0B3E1D4B4F49}" type="slidenum">
              <a:rPr lang="es-CO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4</a:t>
            </a:fld>
            <a:endParaRPr lang="es-CO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2872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930600" y="3373560"/>
            <a:ext cx="7434000" cy="2759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CO" sz="2000" b="0" strike="noStrike" spc="-1"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5265000" y="6658560"/>
            <a:ext cx="4027680" cy="35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7B9B1AF-7CB2-434A-AFD8-83AFEA09B21D}" type="slidenum">
              <a:rPr lang="es-CO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5</a:t>
            </a:fld>
            <a:endParaRPr lang="es-CO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73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CO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CO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Pulse para editar el formato de esquema del texto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n 9"/>
          <p:cNvPicPr/>
          <p:nvPr/>
        </p:nvPicPr>
        <p:blipFill>
          <a:blip r:embed="rId14"/>
          <a:stretch/>
        </p:blipFill>
        <p:spPr>
          <a:xfrm>
            <a:off x="10090080" y="379440"/>
            <a:ext cx="1618560" cy="49212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0" y="6524640"/>
            <a:ext cx="12190680" cy="331920"/>
          </a:xfrm>
          <a:prstGeom prst="rect">
            <a:avLst/>
          </a:prstGeom>
          <a:solidFill>
            <a:srgbClr val="00AC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CustomShape 2"/>
          <p:cNvSpPr/>
          <p:nvPr/>
        </p:nvSpPr>
        <p:spPr>
          <a:xfrm>
            <a:off x="-10800" y="6524640"/>
            <a:ext cx="4464360" cy="331920"/>
          </a:xfrm>
          <a:custGeom>
            <a:avLst/>
            <a:gdLst/>
            <a:ahLst/>
            <a:cxnLst/>
            <a:rect l="l" t="t" r="r" b="b"/>
            <a:pathLst>
              <a:path w="4465674" h="233918">
                <a:moveTo>
                  <a:pt x="0" y="0"/>
                </a:moveTo>
                <a:lnTo>
                  <a:pt x="4144952" y="0"/>
                </a:lnTo>
                <a:lnTo>
                  <a:pt x="4465674" y="233918"/>
                </a:lnTo>
                <a:lnTo>
                  <a:pt x="0" y="233918"/>
                </a:lnTo>
                <a:lnTo>
                  <a:pt x="0" y="0"/>
                </a:lnTo>
                <a:close/>
              </a:path>
            </a:pathLst>
          </a:custGeom>
          <a:solidFill>
            <a:srgbClr val="008BD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Pulse para editar el formato de esquema del texto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bit.ly/345BHZ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n 13"/>
          <p:cNvPicPr/>
          <p:nvPr/>
        </p:nvPicPr>
        <p:blipFill>
          <a:blip r:embed="rId2"/>
          <a:stretch/>
        </p:blipFill>
        <p:spPr>
          <a:xfrm>
            <a:off x="1080" y="0"/>
            <a:ext cx="12188520" cy="6856560"/>
          </a:xfrm>
          <a:prstGeom prst="rect">
            <a:avLst/>
          </a:prstGeom>
          <a:ln>
            <a:noFill/>
          </a:ln>
        </p:spPr>
      </p:pic>
      <p:sp>
        <p:nvSpPr>
          <p:cNvPr id="86" name="CustomShape 1"/>
          <p:cNvSpPr/>
          <p:nvPr/>
        </p:nvSpPr>
        <p:spPr>
          <a:xfrm>
            <a:off x="9052560" y="326520"/>
            <a:ext cx="3187080" cy="725040"/>
          </a:xfrm>
          <a:custGeom>
            <a:avLst/>
            <a:gdLst/>
            <a:ahLst/>
            <a:cxnLst/>
            <a:rect l="l" t="t" r="r" b="b"/>
            <a:pathLst>
              <a:path w="3917950" h="736600">
                <a:moveTo>
                  <a:pt x="0" y="736600"/>
                </a:moveTo>
                <a:lnTo>
                  <a:pt x="184150" y="0"/>
                </a:lnTo>
                <a:lnTo>
                  <a:pt x="3915833" y="8466"/>
                </a:lnTo>
                <a:cubicBezTo>
                  <a:pt x="3916539" y="251177"/>
                  <a:pt x="3917244" y="493889"/>
                  <a:pt x="3917950" y="736600"/>
                </a:cubicBezTo>
                <a:lnTo>
                  <a:pt x="0" y="736600"/>
                </a:lnTo>
                <a:close/>
              </a:path>
            </a:pathLst>
          </a:custGeom>
          <a:solidFill>
            <a:srgbClr val="00ACA9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2"/>
          <p:cNvSpPr/>
          <p:nvPr/>
        </p:nvSpPr>
        <p:spPr>
          <a:xfrm>
            <a:off x="8857080" y="407880"/>
            <a:ext cx="3393000" cy="725040"/>
          </a:xfrm>
          <a:custGeom>
            <a:avLst/>
            <a:gdLst/>
            <a:ahLst/>
            <a:cxnLst/>
            <a:rect l="l" t="t" r="r" b="b"/>
            <a:pathLst>
              <a:path w="3917950" h="736600">
                <a:moveTo>
                  <a:pt x="0" y="736600"/>
                </a:moveTo>
                <a:lnTo>
                  <a:pt x="184150" y="0"/>
                </a:lnTo>
                <a:lnTo>
                  <a:pt x="3915833" y="8466"/>
                </a:lnTo>
                <a:cubicBezTo>
                  <a:pt x="3916539" y="251177"/>
                  <a:pt x="3917244" y="493889"/>
                  <a:pt x="3917950" y="736600"/>
                </a:cubicBezTo>
                <a:lnTo>
                  <a:pt x="0" y="736600"/>
                </a:lnTo>
                <a:close/>
              </a:path>
            </a:pathLst>
          </a:custGeom>
          <a:solidFill>
            <a:srgbClr val="00ACA9">
              <a:alpha val="6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3"/>
          <p:cNvSpPr/>
          <p:nvPr/>
        </p:nvSpPr>
        <p:spPr>
          <a:xfrm flipV="1">
            <a:off x="-24120" y="-1440"/>
            <a:ext cx="5688000" cy="6882120"/>
          </a:xfrm>
          <a:custGeom>
            <a:avLst/>
            <a:gdLst/>
            <a:ahLst/>
            <a:cxnLst/>
            <a:rect l="l" t="t" r="r" b="b"/>
            <a:pathLst>
              <a:path w="5689600" h="6883400">
                <a:moveTo>
                  <a:pt x="0" y="6883399"/>
                </a:moveTo>
                <a:lnTo>
                  <a:pt x="3113617" y="16933"/>
                </a:lnTo>
                <a:lnTo>
                  <a:pt x="5689600" y="0"/>
                </a:lnTo>
                <a:lnTo>
                  <a:pt x="2474383" y="6883400"/>
                </a:lnTo>
                <a:lnTo>
                  <a:pt x="0" y="6883399"/>
                </a:lnTo>
                <a:close/>
              </a:path>
            </a:pathLst>
          </a:custGeom>
          <a:solidFill>
            <a:srgbClr val="00ACA9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CustomShape 4"/>
          <p:cNvSpPr/>
          <p:nvPr/>
        </p:nvSpPr>
        <p:spPr>
          <a:xfrm>
            <a:off x="-25560" y="8640"/>
            <a:ext cx="3105720" cy="6856560"/>
          </a:xfrm>
          <a:custGeom>
            <a:avLst/>
            <a:gdLst/>
            <a:ahLst/>
            <a:cxnLst/>
            <a:rect l="l" t="t" r="r" b="b"/>
            <a:pathLst>
              <a:path w="8631" h="19050">
                <a:moveTo>
                  <a:pt x="0" y="19050"/>
                </a:moveTo>
                <a:lnTo>
                  <a:pt x="0" y="0"/>
                </a:lnTo>
                <a:lnTo>
                  <a:pt x="8631" y="190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" name="CustomShape 5"/>
          <p:cNvSpPr/>
          <p:nvPr/>
        </p:nvSpPr>
        <p:spPr>
          <a:xfrm>
            <a:off x="8846280" y="1134360"/>
            <a:ext cx="3393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CustomShape 6"/>
          <p:cNvSpPr/>
          <p:nvPr/>
        </p:nvSpPr>
        <p:spPr>
          <a:xfrm rot="10800000">
            <a:off x="5147640" y="5792400"/>
            <a:ext cx="6449040" cy="654480"/>
          </a:xfrm>
          <a:custGeom>
            <a:avLst/>
            <a:gdLst/>
            <a:ahLst/>
            <a:cxnLst/>
            <a:rect l="l" t="t" r="r" b="b"/>
            <a:pathLst>
              <a:path w="4219354" h="736600">
                <a:moveTo>
                  <a:pt x="0" y="736600"/>
                </a:moveTo>
                <a:lnTo>
                  <a:pt x="184150" y="0"/>
                </a:lnTo>
                <a:lnTo>
                  <a:pt x="4023202" y="8466"/>
                </a:lnTo>
                <a:cubicBezTo>
                  <a:pt x="4085433" y="221273"/>
                  <a:pt x="4162138" y="530124"/>
                  <a:pt x="4219354" y="730957"/>
                </a:cubicBezTo>
                <a:lnTo>
                  <a:pt x="0" y="736600"/>
                </a:lnTo>
                <a:close/>
              </a:path>
            </a:pathLst>
          </a:custGeom>
          <a:solidFill>
            <a:srgbClr val="008BD2">
              <a:alpha val="7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CustomShape 7"/>
          <p:cNvSpPr/>
          <p:nvPr/>
        </p:nvSpPr>
        <p:spPr>
          <a:xfrm>
            <a:off x="3294360" y="5839200"/>
            <a:ext cx="7954920" cy="54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3000" b="1" strike="noStrike" spc="-1">
                <a:solidFill>
                  <a:srgbClr val="FFFFFF"/>
                </a:solidFill>
                <a:latin typeface="Arial Narrow"/>
                <a:ea typeface="DejaVu Sans"/>
              </a:rPr>
              <a:t>                      Landing page - Pauta digital Google</a:t>
            </a:r>
            <a:endParaRPr lang="es-CO" sz="3000" b="0" strike="noStrike" spc="-1">
              <a:latin typeface="Arial"/>
            </a:endParaRPr>
          </a:p>
        </p:txBody>
      </p:sp>
      <p:pic>
        <p:nvPicPr>
          <p:cNvPr id="93" name="Imagen 11"/>
          <p:cNvPicPr/>
          <p:nvPr/>
        </p:nvPicPr>
        <p:blipFill>
          <a:blip r:embed="rId3"/>
          <a:stretch/>
        </p:blipFill>
        <p:spPr>
          <a:xfrm>
            <a:off x="9833040" y="460440"/>
            <a:ext cx="1652760" cy="466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374400" y="243720"/>
            <a:ext cx="10231200" cy="10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3000" b="1" strike="noStrike" spc="-1">
                <a:solidFill>
                  <a:srgbClr val="00ACA9"/>
                </a:solidFill>
                <a:latin typeface="Arial"/>
                <a:ea typeface="DejaVu Sans"/>
              </a:rPr>
              <a:t>Landing Page </a:t>
            </a:r>
            <a:endParaRPr lang="es-CO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3000" b="0" strike="noStrike" spc="-1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375120" y="719640"/>
            <a:ext cx="433476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2000" b="0" strike="noStrike" spc="-1">
                <a:solidFill>
                  <a:srgbClr val="595959"/>
                </a:solidFill>
                <a:latin typeface="Arial"/>
                <a:ea typeface="DejaVu Sans"/>
              </a:rPr>
              <a:t>Requerimiento</a:t>
            </a:r>
            <a:endParaRPr lang="es-CO" sz="2000" b="0" strike="noStrike" spc="-1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74400" y="1480680"/>
            <a:ext cx="11367720" cy="286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400" b="0" strike="noStrike" spc="-1">
                <a:solidFill>
                  <a:srgbClr val="595959"/>
                </a:solidFill>
                <a:latin typeface="Arial"/>
                <a:ea typeface="DejaVu Sans"/>
              </a:rPr>
              <a:t>Se solicita al área de programación la creación de una landing page que permita al usuario realizar solicitudes a través de un formulario de contacto dejando sus datos y de esta forma, almacenar en una base la información en tiempo real. </a:t>
            </a:r>
            <a:endParaRPr lang="es-CO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CO" sz="1400" b="0" strike="noStrike" spc="-1">
                <a:solidFill>
                  <a:srgbClr val="595959"/>
                </a:solidFill>
                <a:latin typeface="Arial"/>
                <a:ea typeface="DejaVu Sans"/>
              </a:rPr>
              <a:t>Aspectos a tener en cuenta:</a:t>
            </a:r>
            <a:endParaRPr lang="es-CO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4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s-CO" sz="1400" b="0" strike="noStrike" spc="-1">
                <a:solidFill>
                  <a:srgbClr val="595959"/>
                </a:solidFill>
                <a:latin typeface="Arial"/>
                <a:ea typeface="DejaVu Sans"/>
              </a:rPr>
              <a:t>La landing page es el destino de un anuncio pago en Google el cual tendrá un enfoque promocional al Covid-19. </a:t>
            </a:r>
            <a:endParaRPr lang="es-CO" sz="14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s-CO" sz="1400" b="0" strike="noStrike" spc="-1">
                <a:solidFill>
                  <a:srgbClr val="595959"/>
                </a:solidFill>
                <a:latin typeface="Arial"/>
                <a:ea typeface="DejaVu Sans"/>
              </a:rPr>
              <a:t>El alcance de la landing es Valledupar, Chía, Medellín y Girardot, sin embargo, es una única página en la cual el usuario deberá indicar la ciudad de ubicación.</a:t>
            </a:r>
            <a:endParaRPr lang="es-CO" sz="14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s-CO" sz="1400" b="0" strike="noStrike" spc="-1">
                <a:solidFill>
                  <a:srgbClr val="595959"/>
                </a:solidFill>
                <a:latin typeface="Arial"/>
                <a:ea typeface="DejaVu Sans"/>
              </a:rPr>
              <a:t>Se solicita el acceso o descarga diaria de la base con las solicitudes para darle oportuna gestión en un periodo estimado de 1 a 2 días. </a:t>
            </a:r>
            <a:endParaRPr lang="es-CO" sz="14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s-CO" sz="1400" b="0" strike="noStrike" spc="-1">
                <a:solidFill>
                  <a:srgbClr val="595959"/>
                </a:solidFill>
                <a:latin typeface="Arial"/>
                <a:ea typeface="DejaVu Sans"/>
              </a:rPr>
              <a:t>El periodo proyectado de la campaña es a enero 30 de 2021, momento en el cual se inhabilitaría la página, con posibilidad de reactivarla en meses próximos. </a:t>
            </a:r>
            <a:endParaRPr lang="es-CO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400" b="0" strike="noStrike" spc="-1">
              <a:latin typeface="Arial"/>
            </a:endParaRPr>
          </a:p>
        </p:txBody>
      </p:sp>
      <p:pic>
        <p:nvPicPr>
          <p:cNvPr id="97" name="Imagen 1"/>
          <p:cNvPicPr/>
          <p:nvPr/>
        </p:nvPicPr>
        <p:blipFill>
          <a:blip r:embed="rId3"/>
          <a:stretch/>
        </p:blipFill>
        <p:spPr>
          <a:xfrm>
            <a:off x="3909960" y="4168440"/>
            <a:ext cx="4296240" cy="2147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374400" y="243720"/>
            <a:ext cx="10231200" cy="100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3000" b="1" strike="noStrike" spc="-1">
                <a:solidFill>
                  <a:srgbClr val="00ACA9"/>
                </a:solidFill>
                <a:latin typeface="Arial"/>
                <a:ea typeface="DejaVu Sans"/>
              </a:rPr>
              <a:t>Landing Page </a:t>
            </a:r>
            <a:endParaRPr lang="es-CO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3000" b="0" strike="noStrike" spc="-1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375120" y="719640"/>
            <a:ext cx="433476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2000" b="0" strike="noStrike" spc="-1">
                <a:solidFill>
                  <a:srgbClr val="595959"/>
                </a:solidFill>
                <a:latin typeface="Arial"/>
                <a:ea typeface="DejaVu Sans"/>
              </a:rPr>
              <a:t>Referente</a:t>
            </a:r>
            <a:r>
              <a:rPr lang="es-CO" sz="2000" b="1" strike="noStrike" spc="-1">
                <a:solidFill>
                  <a:srgbClr val="595959"/>
                </a:solidFill>
                <a:latin typeface="Arial"/>
                <a:ea typeface="DejaVu Sans"/>
              </a:rPr>
              <a:t> </a:t>
            </a:r>
            <a:endParaRPr lang="es-CO" sz="2000" b="0" strike="noStrike" spc="-1">
              <a:latin typeface="Arial"/>
            </a:endParaRPr>
          </a:p>
        </p:txBody>
      </p:sp>
      <p:pic>
        <p:nvPicPr>
          <p:cNvPr id="100" name="Imagen 8"/>
          <p:cNvPicPr/>
          <p:nvPr/>
        </p:nvPicPr>
        <p:blipFill>
          <a:blip r:embed="rId3"/>
          <a:stretch/>
        </p:blipFill>
        <p:spPr>
          <a:xfrm>
            <a:off x="333457" y="1114200"/>
            <a:ext cx="7621560" cy="5030280"/>
          </a:xfrm>
          <a:prstGeom prst="rect">
            <a:avLst/>
          </a:prstGeom>
          <a:ln>
            <a:noFill/>
          </a:ln>
        </p:spPr>
      </p:pic>
      <p:sp>
        <p:nvSpPr>
          <p:cNvPr id="2" name="Rectángulo 1"/>
          <p:cNvSpPr/>
          <p:nvPr/>
        </p:nvSpPr>
        <p:spPr>
          <a:xfrm>
            <a:off x="550460" y="6144480"/>
            <a:ext cx="17833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>
                <a:hlinkClick r:id="rId4"/>
              </a:rPr>
              <a:t>https://</a:t>
            </a:r>
            <a:r>
              <a:rPr lang="es-CO" sz="1200" dirty="0" smtClean="0">
                <a:hlinkClick r:id="rId4"/>
              </a:rPr>
              <a:t>bit.ly/345BHZo</a:t>
            </a:r>
            <a:endParaRPr lang="es-CO" sz="1200" dirty="0" smtClean="0"/>
          </a:p>
          <a:p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494280" y="-44640"/>
            <a:ext cx="10231200" cy="54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3000" b="1" strike="noStrike" spc="-1">
                <a:solidFill>
                  <a:srgbClr val="00ACA9"/>
                </a:solidFill>
                <a:latin typeface="Arial"/>
                <a:ea typeface="DejaVu Sans"/>
              </a:rPr>
              <a:t>Propuesta Avanzada </a:t>
            </a:r>
            <a:endParaRPr lang="es-CO" sz="3000" b="0" strike="noStrike" spc="-1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4262400" y="58680"/>
            <a:ext cx="612576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2000" b="0" strike="noStrike" spc="-1">
                <a:solidFill>
                  <a:srgbClr val="595959"/>
                </a:solidFill>
                <a:latin typeface="Arial"/>
                <a:ea typeface="DejaVu Sans"/>
              </a:rPr>
              <a:t>Landing page – Pauta Publicitaria </a:t>
            </a:r>
            <a:endParaRPr lang="es-CO" sz="2000" b="0" strike="noStrike" spc="-1">
              <a:latin typeface="Arial"/>
            </a:endParaRPr>
          </a:p>
        </p:txBody>
      </p:sp>
      <p:pic>
        <p:nvPicPr>
          <p:cNvPr id="103" name="Imagen 1"/>
          <p:cNvPicPr/>
          <p:nvPr/>
        </p:nvPicPr>
        <p:blipFill>
          <a:blip r:embed="rId3"/>
          <a:stretch/>
        </p:blipFill>
        <p:spPr>
          <a:xfrm>
            <a:off x="10298880" y="5324040"/>
            <a:ext cx="1381320" cy="605520"/>
          </a:xfrm>
          <a:prstGeom prst="rect">
            <a:avLst/>
          </a:prstGeom>
          <a:ln>
            <a:noFill/>
          </a:ln>
        </p:spPr>
      </p:pic>
      <p:sp>
        <p:nvSpPr>
          <p:cNvPr id="105" name="CustomShape 4"/>
          <p:cNvSpPr/>
          <p:nvPr/>
        </p:nvSpPr>
        <p:spPr>
          <a:xfrm>
            <a:off x="700380" y="6261120"/>
            <a:ext cx="304200" cy="24552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CustomShape 5"/>
          <p:cNvSpPr/>
          <p:nvPr/>
        </p:nvSpPr>
        <p:spPr>
          <a:xfrm>
            <a:off x="1001265" y="6282443"/>
            <a:ext cx="100548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1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Desplegable</a:t>
            </a:r>
            <a:endParaRPr lang="es-CO" sz="1100" b="0" strike="noStrike" spc="-1" dirty="0">
              <a:latin typeface="Arial"/>
            </a:endParaRPr>
          </a:p>
        </p:txBody>
      </p:sp>
      <p:sp>
        <p:nvSpPr>
          <p:cNvPr id="109" name="CustomShape 8"/>
          <p:cNvSpPr/>
          <p:nvPr/>
        </p:nvSpPr>
        <p:spPr>
          <a:xfrm>
            <a:off x="1539900" y="3239612"/>
            <a:ext cx="1199160" cy="950556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s-CO" sz="1800" b="0" strike="noStrike" spc="-1">
              <a:latin typeface="Arial"/>
            </a:endParaRPr>
          </a:p>
        </p:txBody>
      </p:sp>
      <p:sp>
        <p:nvSpPr>
          <p:cNvPr id="110" name="CustomShape 9"/>
          <p:cNvSpPr/>
          <p:nvPr/>
        </p:nvSpPr>
        <p:spPr>
          <a:xfrm>
            <a:off x="3808732" y="3247507"/>
            <a:ext cx="1174320" cy="1057541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s-CO" sz="1800" b="0" strike="noStrike" spc="-1">
              <a:latin typeface="Arial"/>
            </a:endParaRPr>
          </a:p>
        </p:txBody>
      </p:sp>
      <p:sp>
        <p:nvSpPr>
          <p:cNvPr id="111" name="CustomShape 10"/>
          <p:cNvSpPr/>
          <p:nvPr/>
        </p:nvSpPr>
        <p:spPr>
          <a:xfrm>
            <a:off x="5848422" y="3235294"/>
            <a:ext cx="1137600" cy="980285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s-CO" sz="1800" b="0" strike="noStrike" spc="-1">
              <a:latin typeface="Arial"/>
            </a:endParaRPr>
          </a:p>
        </p:txBody>
      </p:sp>
      <p:sp>
        <p:nvSpPr>
          <p:cNvPr id="118" name="CustomShape 17"/>
          <p:cNvSpPr/>
          <p:nvPr/>
        </p:nvSpPr>
        <p:spPr>
          <a:xfrm>
            <a:off x="1302664" y="3916009"/>
            <a:ext cx="1630080" cy="429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Prueba PCR</a:t>
            </a:r>
            <a:endParaRPr lang="es-CO" sz="11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CO" sz="1100" b="1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s-CO" sz="1100" b="0" strike="noStrike" spc="-1" dirty="0">
              <a:latin typeface="Arial"/>
            </a:endParaRPr>
          </a:p>
        </p:txBody>
      </p:sp>
      <p:sp>
        <p:nvSpPr>
          <p:cNvPr id="119" name="CustomShape 18"/>
          <p:cNvSpPr/>
          <p:nvPr/>
        </p:nvSpPr>
        <p:spPr>
          <a:xfrm>
            <a:off x="3838272" y="3945307"/>
            <a:ext cx="1106947" cy="414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Antígeno</a:t>
            </a:r>
            <a:endParaRPr lang="es-CO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900" b="0" strike="noStrike" spc="-1" dirty="0">
              <a:latin typeface="Arial"/>
            </a:endParaRPr>
          </a:p>
        </p:txBody>
      </p:sp>
      <p:sp>
        <p:nvSpPr>
          <p:cNvPr id="120" name="CustomShape 19"/>
          <p:cNvSpPr/>
          <p:nvPr/>
        </p:nvSpPr>
        <p:spPr>
          <a:xfrm>
            <a:off x="5885407" y="3908945"/>
            <a:ext cx="1078029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200" b="1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Anticuerpos</a:t>
            </a:r>
            <a:endParaRPr lang="es-CO" sz="1200" b="0" strike="noStrike" spc="-1" dirty="0">
              <a:latin typeface="Arial"/>
            </a:endParaRPr>
          </a:p>
        </p:txBody>
      </p:sp>
      <p:sp>
        <p:nvSpPr>
          <p:cNvPr id="121" name="CustomShape 20"/>
          <p:cNvSpPr/>
          <p:nvPr/>
        </p:nvSpPr>
        <p:spPr>
          <a:xfrm>
            <a:off x="1524375" y="4548240"/>
            <a:ext cx="1199160" cy="132732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Texto desplegable</a:t>
            </a:r>
            <a:endParaRPr lang="es-CO" sz="1200" b="0" strike="noStrike" spc="-1" dirty="0">
              <a:latin typeface="Arial"/>
            </a:endParaRPr>
          </a:p>
        </p:txBody>
      </p:sp>
      <p:sp>
        <p:nvSpPr>
          <p:cNvPr id="122" name="CustomShape 21"/>
          <p:cNvSpPr/>
          <p:nvPr/>
        </p:nvSpPr>
        <p:spPr>
          <a:xfrm>
            <a:off x="3821887" y="4521350"/>
            <a:ext cx="1160640" cy="1321583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200" b="1" strike="noStrike" spc="-1">
                <a:solidFill>
                  <a:srgbClr val="000000"/>
                </a:solidFill>
                <a:latin typeface="Arial"/>
                <a:ea typeface="DejaVu Sans"/>
              </a:rPr>
              <a:t>Texto</a:t>
            </a:r>
            <a:endParaRPr lang="es-CO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CO" sz="1200" b="1" strike="noStrike" spc="-1">
                <a:solidFill>
                  <a:srgbClr val="000000"/>
                </a:solidFill>
                <a:latin typeface="Arial"/>
                <a:ea typeface="DejaVu Sans"/>
              </a:rPr>
              <a:t>desplegable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23" name="CustomShape 22"/>
          <p:cNvSpPr/>
          <p:nvPr/>
        </p:nvSpPr>
        <p:spPr>
          <a:xfrm>
            <a:off x="5850942" y="4497100"/>
            <a:ext cx="1155960" cy="1341824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200" b="1" strike="noStrike" spc="-1">
                <a:solidFill>
                  <a:srgbClr val="000000"/>
                </a:solidFill>
                <a:latin typeface="Arial"/>
                <a:ea typeface="DejaVu Sans"/>
              </a:rPr>
              <a:t>Texto</a:t>
            </a:r>
            <a:endParaRPr lang="es-CO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CO" sz="1200" b="1" strike="noStrike" spc="-1">
                <a:solidFill>
                  <a:srgbClr val="000000"/>
                </a:solidFill>
                <a:latin typeface="Arial"/>
                <a:ea typeface="DejaVu Sans"/>
              </a:rPr>
              <a:t>desplegable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24" name="CustomShape 23"/>
          <p:cNvSpPr/>
          <p:nvPr/>
        </p:nvSpPr>
        <p:spPr>
          <a:xfrm>
            <a:off x="9996840" y="148320"/>
            <a:ext cx="1815840" cy="685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CustomShape 24"/>
          <p:cNvSpPr/>
          <p:nvPr/>
        </p:nvSpPr>
        <p:spPr>
          <a:xfrm>
            <a:off x="533520" y="453240"/>
            <a:ext cx="11143800" cy="58341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6" name="Imagen 37"/>
          <p:cNvPicPr/>
          <p:nvPr/>
        </p:nvPicPr>
        <p:blipFill>
          <a:blip r:embed="rId4"/>
          <a:srcRect t="11802" b="17791"/>
          <a:stretch/>
        </p:blipFill>
        <p:spPr>
          <a:xfrm>
            <a:off x="1155985" y="521229"/>
            <a:ext cx="1307160" cy="395280"/>
          </a:xfrm>
          <a:prstGeom prst="rect">
            <a:avLst/>
          </a:prstGeom>
          <a:ln>
            <a:noFill/>
          </a:ln>
        </p:spPr>
      </p:pic>
      <p:sp>
        <p:nvSpPr>
          <p:cNvPr id="127" name="CustomShape 25"/>
          <p:cNvSpPr/>
          <p:nvPr/>
        </p:nvSpPr>
        <p:spPr>
          <a:xfrm>
            <a:off x="5774400" y="6026040"/>
            <a:ext cx="184320" cy="261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CustomShape 45"/>
          <p:cNvSpPr/>
          <p:nvPr/>
        </p:nvSpPr>
        <p:spPr>
          <a:xfrm>
            <a:off x="1391175" y="4210096"/>
            <a:ext cx="1449000" cy="3236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100" b="1" strike="noStrike" spc="-1">
                <a:solidFill>
                  <a:srgbClr val="000000"/>
                </a:solidFill>
                <a:latin typeface="Arial"/>
                <a:ea typeface="DejaVu Sans"/>
              </a:rPr>
              <a:t>Más información</a:t>
            </a:r>
            <a:endParaRPr lang="es-CO" sz="1100" b="0" strike="noStrike" spc="-1">
              <a:latin typeface="Arial"/>
            </a:endParaRPr>
          </a:p>
        </p:txBody>
      </p:sp>
      <p:sp>
        <p:nvSpPr>
          <p:cNvPr id="148" name="CustomShape 46"/>
          <p:cNvSpPr/>
          <p:nvPr/>
        </p:nvSpPr>
        <p:spPr>
          <a:xfrm>
            <a:off x="3657581" y="4207070"/>
            <a:ext cx="1449000" cy="3236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100" b="1" strike="noStrike" spc="-1">
                <a:solidFill>
                  <a:srgbClr val="000000"/>
                </a:solidFill>
                <a:latin typeface="Arial"/>
                <a:ea typeface="DejaVu Sans"/>
              </a:rPr>
              <a:t>Más información</a:t>
            </a:r>
            <a:endParaRPr lang="es-CO" sz="1100" b="0" strike="noStrike" spc="-1">
              <a:latin typeface="Arial"/>
            </a:endParaRPr>
          </a:p>
        </p:txBody>
      </p:sp>
      <p:sp>
        <p:nvSpPr>
          <p:cNvPr id="149" name="CustomShape 47"/>
          <p:cNvSpPr/>
          <p:nvPr/>
        </p:nvSpPr>
        <p:spPr>
          <a:xfrm>
            <a:off x="5699922" y="4169721"/>
            <a:ext cx="1449000" cy="3236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100" b="1" strike="noStrike" spc="-1">
                <a:solidFill>
                  <a:srgbClr val="000000"/>
                </a:solidFill>
                <a:latin typeface="Arial"/>
                <a:ea typeface="DejaVu Sans"/>
              </a:rPr>
              <a:t>Más información</a:t>
            </a:r>
            <a:endParaRPr lang="es-CO" sz="1100" b="0" strike="noStrike" spc="-1">
              <a:latin typeface="Arial"/>
            </a:endParaRPr>
          </a:p>
        </p:txBody>
      </p:sp>
      <p:sp>
        <p:nvSpPr>
          <p:cNvPr id="150" name="CustomShape 48"/>
          <p:cNvSpPr/>
          <p:nvPr/>
        </p:nvSpPr>
        <p:spPr>
          <a:xfrm>
            <a:off x="2019123" y="4572076"/>
            <a:ext cx="159120" cy="33300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" name="CustomShape 49"/>
          <p:cNvSpPr/>
          <p:nvPr/>
        </p:nvSpPr>
        <p:spPr>
          <a:xfrm>
            <a:off x="4322647" y="4555750"/>
            <a:ext cx="159120" cy="33300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" name="CustomShape 50"/>
          <p:cNvSpPr/>
          <p:nvPr/>
        </p:nvSpPr>
        <p:spPr>
          <a:xfrm>
            <a:off x="6344861" y="4501455"/>
            <a:ext cx="159120" cy="33300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CustomShape 57"/>
          <p:cNvSpPr/>
          <p:nvPr/>
        </p:nvSpPr>
        <p:spPr>
          <a:xfrm>
            <a:off x="804600" y="5978160"/>
            <a:ext cx="17708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*Primer scroll </a:t>
            </a:r>
            <a:endParaRPr lang="es-CO" sz="1800" b="0" strike="noStrike" spc="-1">
              <a:latin typeface="Arial"/>
            </a:endParaRPr>
          </a:p>
        </p:txBody>
      </p:sp>
      <p:sp>
        <p:nvSpPr>
          <p:cNvPr id="65" name="CustomShape 45"/>
          <p:cNvSpPr/>
          <p:nvPr/>
        </p:nvSpPr>
        <p:spPr>
          <a:xfrm>
            <a:off x="7744213" y="5420879"/>
            <a:ext cx="2592000" cy="659229"/>
          </a:xfrm>
          <a:prstGeom prst="roundRect">
            <a:avLst>
              <a:gd name="adj" fmla="val 16667"/>
            </a:avLst>
          </a:prstGeom>
          <a:solidFill>
            <a:srgbClr val="B0E0E6"/>
          </a:solidFill>
          <a:ln>
            <a:solidFill>
              <a:schemeClr val="bg2"/>
            </a:solidFill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66" name="CustomShape 46"/>
          <p:cNvSpPr/>
          <p:nvPr/>
        </p:nvSpPr>
        <p:spPr>
          <a:xfrm>
            <a:off x="7805520" y="5439531"/>
            <a:ext cx="2376000" cy="8987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/>
            <a:r>
              <a:rPr lang="es-CO" sz="1000" b="1" dirty="0" smtClean="0"/>
              <a:t>Gracias </a:t>
            </a:r>
            <a:r>
              <a:rPr lang="es-CO" sz="1000" b="1" dirty="0"/>
              <a:t>por registrarte, pronto un asesor se pondrá en contacto. </a:t>
            </a:r>
            <a:endParaRPr lang="es-CO" sz="1000" dirty="0"/>
          </a:p>
          <a:p>
            <a:pPr algn="ctr"/>
            <a:r>
              <a:rPr lang="es-CO" sz="1000" b="1" dirty="0"/>
              <a:t>Estamos atentos a resolver tus inquietudes.  </a:t>
            </a:r>
            <a:endParaRPr lang="es-CO" sz="1000" dirty="0"/>
          </a:p>
          <a:p>
            <a:pPr algn="ctr">
              <a:lnSpc>
                <a:spcPct val="100000"/>
              </a:lnSpc>
            </a:pPr>
            <a:endParaRPr lang="es-CO" sz="1050" b="0" strike="noStrike" spc="-1" dirty="0">
              <a:latin typeface="Arial"/>
            </a:endParaRPr>
          </a:p>
        </p:txBody>
      </p:sp>
      <p:pic>
        <p:nvPicPr>
          <p:cNvPr id="67" name="Imagen 66"/>
          <p:cNvPicPr/>
          <p:nvPr/>
        </p:nvPicPr>
        <p:blipFill>
          <a:blip r:embed="rId5"/>
          <a:stretch/>
        </p:blipFill>
        <p:spPr>
          <a:xfrm>
            <a:off x="10048213" y="5420880"/>
            <a:ext cx="239040" cy="239040"/>
          </a:xfrm>
          <a:prstGeom prst="rect">
            <a:avLst/>
          </a:prstGeom>
          <a:ln>
            <a:noFill/>
          </a:ln>
        </p:spPr>
      </p:pic>
      <p:sp>
        <p:nvSpPr>
          <p:cNvPr id="69" name="CustomShape 48"/>
          <p:cNvSpPr/>
          <p:nvPr/>
        </p:nvSpPr>
        <p:spPr>
          <a:xfrm>
            <a:off x="2635147" y="6249321"/>
            <a:ext cx="4471330" cy="2601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1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Ventana Pop-up </a:t>
            </a:r>
            <a:r>
              <a:rPr lang="es-CO" sz="1100" b="1" spc="-1" dirty="0" smtClean="0">
                <a:solidFill>
                  <a:srgbClr val="000000"/>
                </a:solidFill>
                <a:latin typeface="Arial"/>
                <a:ea typeface="DejaVu Sans"/>
              </a:rPr>
              <a:t>después que </a:t>
            </a:r>
            <a:r>
              <a:rPr lang="es-CO" sz="1100" b="1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el </a:t>
            </a:r>
            <a:r>
              <a:rPr lang="es-CO" sz="11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usuario diligencia el formulario  </a:t>
            </a:r>
            <a:endParaRPr lang="es-CO" sz="1100" b="0" strike="noStrike" spc="-1" dirty="0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2311045" y="6261120"/>
            <a:ext cx="304200" cy="245520"/>
          </a:xfrm>
          <a:prstGeom prst="rect">
            <a:avLst/>
          </a:prstGeom>
          <a:solidFill>
            <a:srgbClr val="B0E0E6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653" y="3261246"/>
            <a:ext cx="1024343" cy="63914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946" y="3273009"/>
            <a:ext cx="950044" cy="62878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642" y="3301718"/>
            <a:ext cx="953160" cy="614291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039741" y="2900813"/>
            <a:ext cx="46064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000" b="1" dirty="0">
                <a:solidFill>
                  <a:srgbClr val="00ACA9"/>
                </a:solidFill>
              </a:rPr>
              <a:t>Conoce las pruebas de detección de COVID-19 disponibles:</a:t>
            </a:r>
          </a:p>
          <a:p>
            <a:endParaRPr lang="es-CO" sz="1000" dirty="0">
              <a:solidFill>
                <a:srgbClr val="00ACA9"/>
              </a:solidFill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1211377" y="888733"/>
            <a:ext cx="6164937" cy="30147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r>
              <a:rPr lang="es-CO" sz="1000" b="1" dirty="0"/>
              <a:t>¡Nuestro compromiso es con la salud y bienestar de todos los colombianos!</a:t>
            </a:r>
            <a:endParaRPr lang="es-CO" sz="1000" dirty="0"/>
          </a:p>
          <a:p>
            <a:r>
              <a:rPr lang="es-CO" sz="1000" b="1" dirty="0"/>
              <a:t>En Idime previene y detecta el COVID -19 de forma rápida y confiable</a:t>
            </a:r>
            <a:endParaRPr lang="es-CO" sz="1000" dirty="0"/>
          </a:p>
          <a:p>
            <a:r>
              <a:rPr lang="es-CO" sz="1000" b="1" dirty="0"/>
              <a:t> </a:t>
            </a:r>
            <a:endParaRPr lang="es-CO" sz="1000" dirty="0"/>
          </a:p>
          <a:p>
            <a:r>
              <a:rPr lang="es-CO" sz="1000" b="1" dirty="0"/>
              <a:t>Prueba PCR particular por $170.000</a:t>
            </a:r>
            <a:endParaRPr lang="es-CO" sz="1000" dirty="0"/>
          </a:p>
          <a:p>
            <a:r>
              <a:rPr lang="es-CO" sz="1000" b="1" dirty="0"/>
              <a:t>Prueba Antígenos por </a:t>
            </a:r>
            <a:r>
              <a:rPr lang="es-CO" sz="1000" b="1" dirty="0" smtClean="0"/>
              <a:t>$68.000</a:t>
            </a:r>
            <a:endParaRPr lang="es-CO" sz="1000" dirty="0"/>
          </a:p>
          <a:p>
            <a:r>
              <a:rPr lang="es-CO" sz="1000" b="1" dirty="0"/>
              <a:t>Prueba Anticuerpos por $45.000</a:t>
            </a:r>
            <a:endParaRPr lang="es-CO" sz="1000" dirty="0"/>
          </a:p>
          <a:p>
            <a:r>
              <a:rPr lang="es-CO" sz="1000" b="1" dirty="0"/>
              <a:t> </a:t>
            </a:r>
            <a:endParaRPr lang="es-CO" sz="1000" dirty="0"/>
          </a:p>
          <a:p>
            <a:r>
              <a:rPr lang="es-CO" sz="1000" b="1" dirty="0"/>
              <a:t>¡Solicítalas también a domicilio!</a:t>
            </a:r>
            <a:endParaRPr lang="es-CO" sz="1000" dirty="0"/>
          </a:p>
          <a:p>
            <a:r>
              <a:rPr lang="es-CO" sz="1000" b="1" dirty="0"/>
              <a:t>Pago adicional por domicilio</a:t>
            </a:r>
            <a:r>
              <a:rPr lang="es-CO" sz="1000" b="1" dirty="0" smtClean="0"/>
              <a:t>:</a:t>
            </a:r>
            <a:r>
              <a:rPr lang="es-CO" sz="1000" dirty="0"/>
              <a:t> </a:t>
            </a:r>
            <a:r>
              <a:rPr lang="es-CO" sz="1000" b="1" dirty="0" smtClean="0"/>
              <a:t>$</a:t>
            </a:r>
            <a:r>
              <a:rPr lang="es-CO" sz="1000" b="1" dirty="0"/>
              <a:t>35.000</a:t>
            </a:r>
            <a:endParaRPr lang="es-CO" sz="1000" dirty="0"/>
          </a:p>
          <a:p>
            <a:r>
              <a:rPr lang="es-CO" sz="1000" b="1" dirty="0"/>
              <a:t> </a:t>
            </a:r>
            <a:endParaRPr lang="es-CO" sz="1000" dirty="0"/>
          </a:p>
          <a:p>
            <a:r>
              <a:rPr lang="es-CO" sz="1000" b="1" dirty="0"/>
              <a:t>Somos unos de los laboratorios clínicos privados habilitados por el Instituto Nacional de Salud para la toma de procesamiento de pruebas Covid.   </a:t>
            </a:r>
            <a:endParaRPr lang="es-CO" sz="1000" dirty="0"/>
          </a:p>
          <a:p>
            <a:pPr>
              <a:lnSpc>
                <a:spcPct val="100000"/>
              </a:lnSpc>
            </a:pPr>
            <a:endParaRPr lang="es-CO" sz="1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1000" b="0" strike="noStrike" spc="-1" dirty="0">
              <a:latin typeface="Arial"/>
            </a:endParaRPr>
          </a:p>
        </p:txBody>
      </p:sp>
      <p:cxnSp>
        <p:nvCxnSpPr>
          <p:cNvPr id="7" name="Conector recto 6"/>
          <p:cNvCxnSpPr/>
          <p:nvPr/>
        </p:nvCxnSpPr>
        <p:spPr>
          <a:xfrm>
            <a:off x="494280" y="2843660"/>
            <a:ext cx="11183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ustomShape 27"/>
          <p:cNvSpPr/>
          <p:nvPr/>
        </p:nvSpPr>
        <p:spPr>
          <a:xfrm>
            <a:off x="7753955" y="1141651"/>
            <a:ext cx="3545724" cy="385904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/>
            </a:solidFill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130" name="CustomShape 28"/>
          <p:cNvSpPr/>
          <p:nvPr/>
        </p:nvSpPr>
        <p:spPr>
          <a:xfrm>
            <a:off x="8738628" y="1260081"/>
            <a:ext cx="1649532" cy="2909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300" b="1" spc="-1" dirty="0" smtClean="0">
                <a:latin typeface="Arial"/>
              </a:rPr>
              <a:t>Agenda tu prueba </a:t>
            </a:r>
            <a:endParaRPr lang="es-CO" sz="1300" b="1" strike="noStrike" spc="-1" dirty="0">
              <a:latin typeface="Arial"/>
            </a:endParaRPr>
          </a:p>
        </p:txBody>
      </p:sp>
      <p:sp>
        <p:nvSpPr>
          <p:cNvPr id="132" name="CustomShape 30"/>
          <p:cNvSpPr/>
          <p:nvPr/>
        </p:nvSpPr>
        <p:spPr>
          <a:xfrm>
            <a:off x="7904160" y="1629020"/>
            <a:ext cx="3164040" cy="215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 dirty="0">
                <a:solidFill>
                  <a:srgbClr val="A6A6A6"/>
                </a:solidFill>
                <a:latin typeface="Calibri"/>
                <a:ea typeface="DejaVu Sans"/>
              </a:rPr>
              <a:t>Nombre</a:t>
            </a:r>
            <a:endParaRPr lang="es-CO" sz="1200" b="0" strike="noStrike" spc="-1" dirty="0">
              <a:latin typeface="Arial"/>
            </a:endParaRPr>
          </a:p>
        </p:txBody>
      </p:sp>
      <p:sp>
        <p:nvSpPr>
          <p:cNvPr id="133" name="CustomShape 31"/>
          <p:cNvSpPr/>
          <p:nvPr/>
        </p:nvSpPr>
        <p:spPr>
          <a:xfrm>
            <a:off x="7904160" y="1900820"/>
            <a:ext cx="3164040" cy="215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>
                <a:solidFill>
                  <a:srgbClr val="A6A6A6"/>
                </a:solidFill>
                <a:latin typeface="Calibri"/>
                <a:ea typeface="DejaVu Sans"/>
              </a:rPr>
              <a:t>Apellido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34" name="CustomShape 32"/>
          <p:cNvSpPr/>
          <p:nvPr/>
        </p:nvSpPr>
        <p:spPr>
          <a:xfrm>
            <a:off x="9429840" y="2169740"/>
            <a:ext cx="1638000" cy="235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>
                <a:solidFill>
                  <a:srgbClr val="A6A6A6"/>
                </a:solidFill>
                <a:latin typeface="Calibri"/>
                <a:ea typeface="DejaVu Sans"/>
              </a:rPr>
              <a:t>Número de documento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35" name="CustomShape 33"/>
          <p:cNvSpPr/>
          <p:nvPr/>
        </p:nvSpPr>
        <p:spPr>
          <a:xfrm>
            <a:off x="7898400" y="2573660"/>
            <a:ext cx="3164040" cy="215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>
                <a:solidFill>
                  <a:srgbClr val="A6A6A6"/>
                </a:solidFill>
                <a:latin typeface="Calibri"/>
                <a:ea typeface="DejaVu Sans"/>
              </a:rPr>
              <a:t>Correo Electrónico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36" name="CustomShape 34"/>
          <p:cNvSpPr/>
          <p:nvPr/>
        </p:nvSpPr>
        <p:spPr>
          <a:xfrm>
            <a:off x="7898400" y="2843660"/>
            <a:ext cx="3164040" cy="215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>
                <a:solidFill>
                  <a:srgbClr val="A6A6A6"/>
                </a:solidFill>
                <a:latin typeface="Calibri"/>
                <a:ea typeface="DejaVu Sans"/>
              </a:rPr>
              <a:t>Celular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37" name="CustomShape 35"/>
          <p:cNvSpPr/>
          <p:nvPr/>
        </p:nvSpPr>
        <p:spPr>
          <a:xfrm>
            <a:off x="7898400" y="3117980"/>
            <a:ext cx="3164040" cy="21564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>
                <a:solidFill>
                  <a:srgbClr val="A6A6A6"/>
                </a:solidFill>
                <a:latin typeface="Calibri"/>
                <a:ea typeface="DejaVu Sans"/>
              </a:rPr>
              <a:t>Ciudad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38" name="CustomShape 36"/>
          <p:cNvSpPr/>
          <p:nvPr/>
        </p:nvSpPr>
        <p:spPr>
          <a:xfrm>
            <a:off x="7908840" y="4266020"/>
            <a:ext cx="181440" cy="187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2"/>
            </a:solidFill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139" name="CustomShape 37"/>
          <p:cNvSpPr/>
          <p:nvPr/>
        </p:nvSpPr>
        <p:spPr>
          <a:xfrm>
            <a:off x="8071560" y="4220660"/>
            <a:ext cx="3289680" cy="22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900" b="0" i="1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Autorizo tratamiento de datos personales</a:t>
            </a:r>
            <a:endParaRPr lang="es-CO" sz="900" b="0" strike="noStrike" spc="-1" dirty="0">
              <a:latin typeface="Arial"/>
            </a:endParaRPr>
          </a:p>
        </p:txBody>
      </p:sp>
      <p:sp>
        <p:nvSpPr>
          <p:cNvPr id="140" name="CustomShape 38"/>
          <p:cNvSpPr/>
          <p:nvPr/>
        </p:nvSpPr>
        <p:spPr>
          <a:xfrm>
            <a:off x="8082571" y="4337120"/>
            <a:ext cx="3289680" cy="22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900" b="0" u="sng" strike="noStrike" spc="-1" dirty="0">
                <a:solidFill>
                  <a:srgbClr val="2EBBB9"/>
                </a:solidFill>
                <a:uFillTx/>
                <a:latin typeface="Calibri"/>
                <a:ea typeface="DejaVu Sans"/>
              </a:rPr>
              <a:t>Leer términos y condiciones</a:t>
            </a:r>
            <a:endParaRPr lang="es-CO" sz="900" b="0" strike="noStrike" spc="-1" dirty="0">
              <a:latin typeface="Arial"/>
            </a:endParaRPr>
          </a:p>
        </p:txBody>
      </p:sp>
      <p:sp>
        <p:nvSpPr>
          <p:cNvPr id="141" name="CustomShape 39"/>
          <p:cNvSpPr/>
          <p:nvPr/>
        </p:nvSpPr>
        <p:spPr>
          <a:xfrm>
            <a:off x="8982000" y="4596140"/>
            <a:ext cx="996480" cy="267480"/>
          </a:xfrm>
          <a:prstGeom prst="roundRect">
            <a:avLst>
              <a:gd name="adj" fmla="val 16667"/>
            </a:avLst>
          </a:prstGeom>
          <a:solidFill>
            <a:srgbClr val="00ACA9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400" b="0" strike="noStrike" spc="-1">
                <a:solidFill>
                  <a:srgbClr val="FFFFFF"/>
                </a:solidFill>
                <a:latin typeface="Calibri"/>
                <a:ea typeface="DejaVu Sans"/>
              </a:rPr>
              <a:t>Enviar</a:t>
            </a:r>
            <a:endParaRPr lang="es-CO" sz="1400" b="0" strike="noStrike" spc="-1">
              <a:latin typeface="Arial"/>
            </a:endParaRPr>
          </a:p>
        </p:txBody>
      </p:sp>
      <p:sp>
        <p:nvSpPr>
          <p:cNvPr id="142" name="CustomShape 40"/>
          <p:cNvSpPr/>
          <p:nvPr/>
        </p:nvSpPr>
        <p:spPr>
          <a:xfrm>
            <a:off x="7898400" y="2180180"/>
            <a:ext cx="1468080" cy="20484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>
                <a:solidFill>
                  <a:srgbClr val="A6A6A6"/>
                </a:solidFill>
                <a:latin typeface="Calibri"/>
                <a:ea typeface="DejaVu Sans"/>
              </a:rPr>
              <a:t>Tipo de documento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43" name="CustomShape 41"/>
          <p:cNvSpPr/>
          <p:nvPr/>
        </p:nvSpPr>
        <p:spPr>
          <a:xfrm>
            <a:off x="7898400" y="3575180"/>
            <a:ext cx="3164040" cy="610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s-CO" sz="1200" b="0" strike="noStrike" spc="-1">
                <a:solidFill>
                  <a:srgbClr val="A6A6A6"/>
                </a:solidFill>
                <a:latin typeface="Calibri"/>
                <a:ea typeface="DejaVu Sans"/>
              </a:rPr>
              <a:t>Mensaje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144" name="CustomShape 42"/>
          <p:cNvSpPr/>
          <p:nvPr/>
        </p:nvSpPr>
        <p:spPr>
          <a:xfrm>
            <a:off x="7878600" y="3369260"/>
            <a:ext cx="2449440" cy="196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7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Medellín  - Girardot  - Chía -  Valledupar </a:t>
            </a:r>
            <a:endParaRPr lang="es-CO" sz="700" b="0" strike="noStrike" spc="-1" dirty="0">
              <a:latin typeface="Arial"/>
            </a:endParaRPr>
          </a:p>
        </p:txBody>
      </p:sp>
      <p:sp>
        <p:nvSpPr>
          <p:cNvPr id="160" name="CustomShape 58"/>
          <p:cNvSpPr/>
          <p:nvPr/>
        </p:nvSpPr>
        <p:spPr>
          <a:xfrm>
            <a:off x="7916040" y="2405180"/>
            <a:ext cx="2265480" cy="196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7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Opciones de tipo documento Athenea</a:t>
            </a:r>
            <a:endParaRPr lang="es-CO" sz="7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3207489" y="3766257"/>
            <a:ext cx="5770440" cy="140868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</p:sp>
      <p:sp>
        <p:nvSpPr>
          <p:cNvPr id="165" name="CustomShape 2"/>
          <p:cNvSpPr/>
          <p:nvPr/>
        </p:nvSpPr>
        <p:spPr>
          <a:xfrm>
            <a:off x="7362230" y="1291495"/>
            <a:ext cx="1148400" cy="33768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66" name="CustomShape 3"/>
          <p:cNvSpPr/>
          <p:nvPr/>
        </p:nvSpPr>
        <p:spPr>
          <a:xfrm>
            <a:off x="5183870" y="1304095"/>
            <a:ext cx="1148400" cy="33768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67" name="CustomShape 4"/>
          <p:cNvSpPr/>
          <p:nvPr/>
        </p:nvSpPr>
        <p:spPr>
          <a:xfrm>
            <a:off x="3077150" y="1288975"/>
            <a:ext cx="1148400" cy="33768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68" name="CustomShape 5"/>
          <p:cNvSpPr/>
          <p:nvPr/>
        </p:nvSpPr>
        <p:spPr>
          <a:xfrm>
            <a:off x="494280" y="-44640"/>
            <a:ext cx="10231200" cy="54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3000" b="1" strike="noStrike" spc="-1">
                <a:solidFill>
                  <a:srgbClr val="00ACA9"/>
                </a:solidFill>
                <a:latin typeface="Arial"/>
                <a:ea typeface="DejaVu Sans"/>
              </a:rPr>
              <a:t>Propuesta Avanzada </a:t>
            </a:r>
            <a:endParaRPr lang="es-CO" sz="3000" b="0" strike="noStrike" spc="-1"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4262400" y="58680"/>
            <a:ext cx="612576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2000" b="0" strike="noStrike" spc="-1">
                <a:solidFill>
                  <a:srgbClr val="595959"/>
                </a:solidFill>
                <a:latin typeface="Arial"/>
                <a:ea typeface="DejaVu Sans"/>
              </a:rPr>
              <a:t>Landing page – Pauta Publicitaria </a:t>
            </a:r>
            <a:endParaRPr lang="es-CO" sz="2000" b="0" strike="noStrike" spc="-1">
              <a:latin typeface="Arial"/>
            </a:endParaRPr>
          </a:p>
        </p:txBody>
      </p:sp>
      <p:pic>
        <p:nvPicPr>
          <p:cNvPr id="170" name="Imagen 1"/>
          <p:cNvPicPr/>
          <p:nvPr/>
        </p:nvPicPr>
        <p:blipFill>
          <a:blip r:embed="rId3"/>
          <a:stretch/>
        </p:blipFill>
        <p:spPr>
          <a:xfrm>
            <a:off x="9139155" y="4978871"/>
            <a:ext cx="1945402" cy="852793"/>
          </a:xfrm>
          <a:prstGeom prst="rect">
            <a:avLst/>
          </a:prstGeom>
          <a:ln>
            <a:noFill/>
          </a:ln>
        </p:spPr>
      </p:pic>
      <p:sp>
        <p:nvSpPr>
          <p:cNvPr id="173" name="CustomShape 9"/>
          <p:cNvSpPr/>
          <p:nvPr/>
        </p:nvSpPr>
        <p:spPr>
          <a:xfrm>
            <a:off x="3834272" y="549417"/>
            <a:ext cx="4071092" cy="2601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100" b="1" strike="noStrike" spc="-1" dirty="0">
                <a:solidFill>
                  <a:srgbClr val="00ACA9"/>
                </a:solidFill>
                <a:latin typeface="Arial"/>
                <a:ea typeface="DejaVu Sans"/>
              </a:rPr>
              <a:t>Pruebas realizadas de Covid 19 en cifras a nivel nacional: </a:t>
            </a:r>
            <a:endParaRPr lang="es-CO" sz="1100" b="0" strike="noStrike" spc="-1" dirty="0">
              <a:latin typeface="Arial"/>
            </a:endParaRPr>
          </a:p>
        </p:txBody>
      </p:sp>
      <p:sp>
        <p:nvSpPr>
          <p:cNvPr id="174" name="CustomShape 10"/>
          <p:cNvSpPr/>
          <p:nvPr/>
        </p:nvSpPr>
        <p:spPr>
          <a:xfrm>
            <a:off x="3242750" y="863815"/>
            <a:ext cx="885240" cy="39564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PCR</a:t>
            </a:r>
            <a:endParaRPr lang="es-CO" sz="1400" b="0" strike="noStrike" spc="-1">
              <a:latin typeface="Arial"/>
            </a:endParaRPr>
          </a:p>
        </p:txBody>
      </p:sp>
      <p:sp>
        <p:nvSpPr>
          <p:cNvPr id="175" name="CustomShape 11"/>
          <p:cNvSpPr/>
          <p:nvPr/>
        </p:nvSpPr>
        <p:spPr>
          <a:xfrm>
            <a:off x="5015030" y="892975"/>
            <a:ext cx="1514880" cy="39564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Antígenos</a:t>
            </a:r>
            <a:endParaRPr lang="es-CO" sz="1400" b="0" strike="noStrike" spc="-1">
              <a:latin typeface="Arial"/>
            </a:endParaRPr>
          </a:p>
        </p:txBody>
      </p:sp>
      <p:sp>
        <p:nvSpPr>
          <p:cNvPr id="176" name="CustomShape 12"/>
          <p:cNvSpPr/>
          <p:nvPr/>
        </p:nvSpPr>
        <p:spPr>
          <a:xfrm>
            <a:off x="7349630" y="885415"/>
            <a:ext cx="1272600" cy="41868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Anticuerpos</a:t>
            </a:r>
            <a:endParaRPr lang="es-CO" sz="1400" b="0" strike="noStrike" spc="-1">
              <a:latin typeface="Arial"/>
            </a:endParaRPr>
          </a:p>
        </p:txBody>
      </p:sp>
      <p:sp>
        <p:nvSpPr>
          <p:cNvPr id="177" name="CustomShape 13"/>
          <p:cNvSpPr/>
          <p:nvPr/>
        </p:nvSpPr>
        <p:spPr>
          <a:xfrm>
            <a:off x="3181190" y="1263055"/>
            <a:ext cx="939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250837</a:t>
            </a:r>
            <a:endParaRPr lang="es-CO" sz="1800" b="0" strike="noStrike" spc="-1" dirty="0">
              <a:latin typeface="Arial"/>
            </a:endParaRPr>
          </a:p>
        </p:txBody>
      </p:sp>
      <p:sp>
        <p:nvSpPr>
          <p:cNvPr id="178" name="CustomShape 14"/>
          <p:cNvSpPr/>
          <p:nvPr/>
        </p:nvSpPr>
        <p:spPr>
          <a:xfrm>
            <a:off x="5350910" y="1291495"/>
            <a:ext cx="8136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45712</a:t>
            </a:r>
            <a:endParaRPr lang="es-CO" sz="1800" b="0" strike="noStrike" spc="-1" dirty="0">
              <a:latin typeface="Arial"/>
            </a:endParaRPr>
          </a:p>
        </p:txBody>
      </p:sp>
      <p:sp>
        <p:nvSpPr>
          <p:cNvPr id="179" name="CustomShape 15"/>
          <p:cNvSpPr/>
          <p:nvPr/>
        </p:nvSpPr>
        <p:spPr>
          <a:xfrm>
            <a:off x="7662110" y="1297615"/>
            <a:ext cx="6868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8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8212</a:t>
            </a:r>
            <a:endParaRPr lang="es-CO" sz="1800" b="0" strike="noStrike" spc="-1" dirty="0">
              <a:latin typeface="Arial"/>
            </a:endParaRPr>
          </a:p>
        </p:txBody>
      </p:sp>
      <p:sp>
        <p:nvSpPr>
          <p:cNvPr id="180" name="CustomShape 16"/>
          <p:cNvSpPr/>
          <p:nvPr/>
        </p:nvSpPr>
        <p:spPr>
          <a:xfrm>
            <a:off x="3685370" y="5231817"/>
            <a:ext cx="500724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200" b="1" strike="noStrike" spc="-1" dirty="0">
                <a:solidFill>
                  <a:srgbClr val="00ACA9"/>
                </a:solidFill>
                <a:latin typeface="Arial"/>
                <a:ea typeface="Calibri"/>
              </a:rPr>
              <a:t>Porque tu salud y la de tu familia merecen toda nuestra atención</a:t>
            </a:r>
            <a:r>
              <a:rPr lang="es-CO" sz="900" b="1" strike="noStrike" spc="-1" dirty="0">
                <a:solidFill>
                  <a:srgbClr val="00ACA9"/>
                </a:solidFill>
                <a:latin typeface="Arial"/>
                <a:ea typeface="Calibri"/>
              </a:rPr>
              <a:t>.</a:t>
            </a:r>
            <a:endParaRPr lang="es-CO" sz="900" b="0" strike="noStrike" spc="-1" dirty="0">
              <a:latin typeface="Arial"/>
            </a:endParaRPr>
          </a:p>
        </p:txBody>
      </p:sp>
      <p:sp>
        <p:nvSpPr>
          <p:cNvPr id="181" name="CustomShape 17"/>
          <p:cNvSpPr/>
          <p:nvPr/>
        </p:nvSpPr>
        <p:spPr>
          <a:xfrm>
            <a:off x="9996840" y="148320"/>
            <a:ext cx="1815840" cy="685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CustomShape 18"/>
          <p:cNvSpPr/>
          <p:nvPr/>
        </p:nvSpPr>
        <p:spPr>
          <a:xfrm>
            <a:off x="533520" y="453240"/>
            <a:ext cx="11143800" cy="580212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3" name="Imagen 37"/>
          <p:cNvPicPr/>
          <p:nvPr/>
        </p:nvPicPr>
        <p:blipFill>
          <a:blip r:embed="rId4"/>
          <a:srcRect t="11802" b="17791"/>
          <a:stretch/>
        </p:blipFill>
        <p:spPr>
          <a:xfrm>
            <a:off x="1343030" y="564906"/>
            <a:ext cx="1307160" cy="395280"/>
          </a:xfrm>
          <a:prstGeom prst="rect">
            <a:avLst/>
          </a:prstGeom>
          <a:ln>
            <a:noFill/>
          </a:ln>
        </p:spPr>
      </p:pic>
      <p:sp>
        <p:nvSpPr>
          <p:cNvPr id="184" name="CustomShape 19"/>
          <p:cNvSpPr/>
          <p:nvPr/>
        </p:nvSpPr>
        <p:spPr>
          <a:xfrm>
            <a:off x="533520" y="5929560"/>
            <a:ext cx="11143800" cy="382680"/>
          </a:xfrm>
          <a:prstGeom prst="rect">
            <a:avLst/>
          </a:prstGeom>
          <a:solidFill>
            <a:schemeClr val="bg2"/>
          </a:solidFill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</p:sp>
      <p:sp>
        <p:nvSpPr>
          <p:cNvPr id="185" name="CustomShape 20"/>
          <p:cNvSpPr/>
          <p:nvPr/>
        </p:nvSpPr>
        <p:spPr>
          <a:xfrm>
            <a:off x="912240" y="6051240"/>
            <a:ext cx="188172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00" b="1" strike="noStrike" spc="-1">
                <a:solidFill>
                  <a:srgbClr val="000000"/>
                </a:solidFill>
                <a:latin typeface="Arial"/>
                <a:ea typeface="DejaVu Sans"/>
              </a:rPr>
              <a:t>Redes sociales de Idime  </a:t>
            </a:r>
            <a:endParaRPr lang="es-CO" sz="1100" b="0" strike="noStrike" spc="-1">
              <a:latin typeface="Arial"/>
            </a:endParaRPr>
          </a:p>
        </p:txBody>
      </p:sp>
      <p:sp>
        <p:nvSpPr>
          <p:cNvPr id="186" name="CustomShape 21"/>
          <p:cNvSpPr/>
          <p:nvPr/>
        </p:nvSpPr>
        <p:spPr>
          <a:xfrm>
            <a:off x="5774400" y="6026040"/>
            <a:ext cx="184320" cy="261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CustomShape 22"/>
          <p:cNvSpPr/>
          <p:nvPr/>
        </p:nvSpPr>
        <p:spPr>
          <a:xfrm>
            <a:off x="6972142" y="6019985"/>
            <a:ext cx="4744418" cy="2601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00" b="1" dirty="0"/>
              <a:t>Para más información visita nuestro sitio web </a:t>
            </a:r>
            <a:r>
              <a:rPr lang="es-CO" sz="1100" b="1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Página </a:t>
            </a:r>
            <a:r>
              <a:rPr lang="es-CO" sz="11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web de Idime  </a:t>
            </a:r>
            <a:endParaRPr lang="es-CO" sz="1100" b="1" strike="noStrike" spc="-1" dirty="0">
              <a:latin typeface="Arial"/>
            </a:endParaRPr>
          </a:p>
        </p:txBody>
      </p:sp>
      <p:sp>
        <p:nvSpPr>
          <p:cNvPr id="204" name="CustomShape 39"/>
          <p:cNvSpPr/>
          <p:nvPr/>
        </p:nvSpPr>
        <p:spPr>
          <a:xfrm>
            <a:off x="626040" y="6280141"/>
            <a:ext cx="286200" cy="24660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205" name="CustomShape 40"/>
          <p:cNvSpPr/>
          <p:nvPr/>
        </p:nvSpPr>
        <p:spPr>
          <a:xfrm>
            <a:off x="1039254" y="6324442"/>
            <a:ext cx="128736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1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Plugin</a:t>
            </a:r>
            <a:r>
              <a:rPr lang="es-CO" sz="11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 contador </a:t>
            </a:r>
            <a:endParaRPr lang="es-CO" sz="1100" b="0" strike="noStrike" spc="-1" dirty="0">
              <a:latin typeface="Arial"/>
            </a:endParaRPr>
          </a:p>
        </p:txBody>
      </p:sp>
      <p:sp>
        <p:nvSpPr>
          <p:cNvPr id="206" name="CustomShape 41"/>
          <p:cNvSpPr/>
          <p:nvPr/>
        </p:nvSpPr>
        <p:spPr>
          <a:xfrm>
            <a:off x="4279550" y="1783615"/>
            <a:ext cx="2831760" cy="169596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CO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GIF   </a:t>
            </a:r>
            <a:endParaRPr lang="es-CO" sz="1600" b="0" strike="noStrike" spc="-1">
              <a:latin typeface="Arial"/>
            </a:endParaRPr>
          </a:p>
        </p:txBody>
      </p:sp>
      <p:sp>
        <p:nvSpPr>
          <p:cNvPr id="207" name="CustomShape 42"/>
          <p:cNvSpPr/>
          <p:nvPr/>
        </p:nvSpPr>
        <p:spPr>
          <a:xfrm>
            <a:off x="677520" y="5537160"/>
            <a:ext cx="19872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*Segundo scroll </a:t>
            </a:r>
            <a:endParaRPr lang="es-CO" sz="1800" b="0" strike="noStrike" spc="-1">
              <a:latin typeface="Arial"/>
            </a:endParaRPr>
          </a:p>
        </p:txBody>
      </p:sp>
      <p:sp>
        <p:nvSpPr>
          <p:cNvPr id="208" name="CustomShape 43"/>
          <p:cNvSpPr/>
          <p:nvPr/>
        </p:nvSpPr>
        <p:spPr>
          <a:xfrm>
            <a:off x="3502421" y="3891596"/>
            <a:ext cx="5754960" cy="1315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CO" sz="1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Acerca de Idime:</a:t>
            </a:r>
            <a:endParaRPr lang="es-CO" sz="1200" b="0" strike="noStrike" spc="-1" dirty="0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CO" sz="105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30 años al cuidado de la salud de los colombianos.</a:t>
            </a:r>
            <a:endParaRPr lang="es-CO" sz="1050" b="0" strike="noStrike" spc="-1" dirty="0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CO" sz="105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75 sedes a nivel nacional.</a:t>
            </a:r>
            <a:endParaRPr lang="es-CO" sz="1050" b="0" strike="noStrike" spc="-1" dirty="0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CO" sz="105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Alta tecnología en equipos y procesos.</a:t>
            </a:r>
            <a:endParaRPr lang="es-CO" sz="1050" b="0" strike="noStrike" spc="-1" dirty="0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CO" sz="105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Atención profesional y humanizada.</a:t>
            </a:r>
            <a:endParaRPr lang="es-CO" sz="1050" b="0" strike="noStrike" spc="-1" dirty="0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CO" sz="105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Nuestra operación está volcada en servirle a la gente y al medio ambiente</a:t>
            </a:r>
            <a:r>
              <a:rPr lang="es-CO" sz="9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9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9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s-CO" sz="9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0" y="2023560"/>
            <a:ext cx="12190680" cy="2555640"/>
          </a:xfrm>
          <a:prstGeom prst="rect">
            <a:avLst/>
          </a:prstGeom>
          <a:solidFill>
            <a:srgbClr val="00AC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"/>
          <p:cNvSpPr/>
          <p:nvPr/>
        </p:nvSpPr>
        <p:spPr>
          <a:xfrm>
            <a:off x="0" y="2356560"/>
            <a:ext cx="12190680" cy="148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CustomShape 3"/>
          <p:cNvSpPr/>
          <p:nvPr/>
        </p:nvSpPr>
        <p:spPr>
          <a:xfrm>
            <a:off x="2919600" y="4026240"/>
            <a:ext cx="63514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800" b="1" strike="noStrike" spc="-1">
                <a:solidFill>
                  <a:srgbClr val="FFFFFF"/>
                </a:solidFill>
                <a:latin typeface="Arial Narrow"/>
                <a:ea typeface="DejaVu Sans"/>
              </a:rPr>
              <a:t>Porque tu salud y la de tu familia merecen toda nuestra atención.</a:t>
            </a:r>
            <a:endParaRPr lang="es-CO" sz="1800" b="0" strike="noStrike" spc="-1">
              <a:latin typeface="Arial"/>
            </a:endParaRPr>
          </a:p>
        </p:txBody>
      </p:sp>
      <p:pic>
        <p:nvPicPr>
          <p:cNvPr id="218" name="Imagen 5"/>
          <p:cNvPicPr/>
          <p:nvPr/>
        </p:nvPicPr>
        <p:blipFill>
          <a:blip r:embed="rId2"/>
          <a:stretch/>
        </p:blipFill>
        <p:spPr>
          <a:xfrm>
            <a:off x="4954320" y="2672280"/>
            <a:ext cx="2282400" cy="700560"/>
          </a:xfrm>
          <a:prstGeom prst="rect">
            <a:avLst/>
          </a:prstGeom>
          <a:ln>
            <a:noFill/>
          </a:ln>
        </p:spPr>
      </p:pic>
      <p:pic>
        <p:nvPicPr>
          <p:cNvPr id="219" name="Imagen 1"/>
          <p:cNvPicPr/>
          <p:nvPr/>
        </p:nvPicPr>
        <p:blipFill>
          <a:blip r:embed="rId3"/>
          <a:stretch/>
        </p:blipFill>
        <p:spPr>
          <a:xfrm>
            <a:off x="5271840" y="5603760"/>
            <a:ext cx="1647360" cy="445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7" dur="12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" dur="7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" dur="7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7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44345</TotalTime>
  <Words>428</Words>
  <Application>Microsoft Office PowerPoint</Application>
  <PresentationFormat>Panorámica</PresentationFormat>
  <Paragraphs>93</Paragraphs>
  <Slides>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Arial Narrow</vt:lpstr>
      <vt:lpstr>Calibri</vt:lpstr>
      <vt:lpstr>DejaVu Sans</vt:lpstr>
      <vt:lpstr>Symbol</vt:lpstr>
      <vt:lpstr>Times New Roman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ASUS</dc:creator>
  <dc:description/>
  <cp:lastModifiedBy>JXCOM001</cp:lastModifiedBy>
  <cp:revision>4546</cp:revision>
  <cp:lastPrinted>2018-03-20T22:02:27Z</cp:lastPrinted>
  <dcterms:created xsi:type="dcterms:W3CDTF">2016-02-10T13:16:52Z</dcterms:created>
  <dcterms:modified xsi:type="dcterms:W3CDTF">2020-12-12T16:38:04Z</dcterms:modified>
  <dc:language>es-CO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4</vt:i4>
  </property>
  <property fmtid="{D5CDD505-2E9C-101B-9397-08002B2CF9AE}" pid="8" name="PresentationFormat">
    <vt:lpwstr>Panorámica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